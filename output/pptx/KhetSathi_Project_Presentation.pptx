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b17e27565d4441" /><Relationship Type="http://schemas.openxmlformats.org/officeDocument/2006/relationships/extended-properties" Target="/docProps/app.xml" Id="R7cc979c7bc0743a2" /><Relationship Type="http://schemas.openxmlformats.org/officeDocument/2006/relationships/officeDocument" Target="/ppt/presentation.xml" Id="R147911a01a1d43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c729c971184501"/>
  </p:sldMasterIdLst>
  <p:notesMasterIdLst>
    <p:notesMasterId xmlns:r="http://schemas.openxmlformats.org/officeDocument/2006/relationships" r:id="R3a14145cbf6b444a"/>
  </p:notesMasterIdLst>
  <p:sldIdLst>
    <p:sldId xmlns:r="http://schemas.openxmlformats.org/officeDocument/2006/relationships" id="256" r:id="R806387d171aa4933"/>
    <p:sldId xmlns:r="http://schemas.openxmlformats.org/officeDocument/2006/relationships" id="257" r:id="R0a095c4ef1814bf4"/>
    <p:sldId xmlns:r="http://schemas.openxmlformats.org/officeDocument/2006/relationships" id="258" r:id="R22ba545ee1124e03"/>
    <p:sldId xmlns:r="http://schemas.openxmlformats.org/officeDocument/2006/relationships" id="259" r:id="R054af43b2a6142ad"/>
    <p:sldId xmlns:r="http://schemas.openxmlformats.org/officeDocument/2006/relationships" id="260" r:id="R951424881c0b41d6"/>
    <p:sldId xmlns:r="http://schemas.openxmlformats.org/officeDocument/2006/relationships" id="261" r:id="Rfda4058fb86c4424"/>
    <p:sldId xmlns:r="http://schemas.openxmlformats.org/officeDocument/2006/relationships" id="262" r:id="R0d50e05f4f9b4d78"/>
    <p:sldId xmlns:r="http://schemas.openxmlformats.org/officeDocument/2006/relationships" id="263" r:id="R25f1a2fd13a44bf5"/>
    <p:sldId xmlns:r="http://schemas.openxmlformats.org/officeDocument/2006/relationships" id="264" r:id="R018908b9686148ff"/>
    <p:sldId xmlns:r="http://schemas.openxmlformats.org/officeDocument/2006/relationships" id="265" r:id="Rdc963dd7a36c4a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a243e0986f408b" /><Relationship Type="http://schemas.openxmlformats.org/officeDocument/2006/relationships/slideMaster" Target="/ppt/slideMasters/slideMaster1.xml" Id="Rdfc729c971184501" /><Relationship Type="http://schemas.openxmlformats.org/officeDocument/2006/relationships/notesMaster" Target="/ppt/notesMasters/notesMaster1.xml" Id="R3a14145cbf6b444a" /><Relationship Type="http://schemas.openxmlformats.org/officeDocument/2006/relationships/presProps" Target="/ppt/presProps.xml" Id="Rff8d984b510240ca" /><Relationship Type="http://schemas.openxmlformats.org/officeDocument/2006/relationships/tableStyles" Target="/ppt/tableStyles.xml" Id="R5b4c54699cae45e2" /><Relationship Type="http://schemas.openxmlformats.org/officeDocument/2006/relationships/slide" Target="/ppt/slides/slide1.xml" Id="R806387d171aa4933" /><Relationship Type="http://schemas.openxmlformats.org/officeDocument/2006/relationships/slide" Target="/ppt/slides/slide2.xml" Id="R0a095c4ef1814bf4" /><Relationship Type="http://schemas.openxmlformats.org/officeDocument/2006/relationships/slide" Target="/ppt/slides/slide3.xml" Id="R22ba545ee1124e03" /><Relationship Type="http://schemas.openxmlformats.org/officeDocument/2006/relationships/slide" Target="/ppt/slides/slide4.xml" Id="R054af43b2a6142ad" /><Relationship Type="http://schemas.openxmlformats.org/officeDocument/2006/relationships/slide" Target="/ppt/slides/slide5.xml" Id="R951424881c0b41d6" /><Relationship Type="http://schemas.openxmlformats.org/officeDocument/2006/relationships/slide" Target="/ppt/slides/slide6.xml" Id="Rfda4058fb86c4424" /><Relationship Type="http://schemas.openxmlformats.org/officeDocument/2006/relationships/slide" Target="/ppt/slides/slide7.xml" Id="R0d50e05f4f9b4d78" /><Relationship Type="http://schemas.openxmlformats.org/officeDocument/2006/relationships/slide" Target="/ppt/slides/slide8.xml" Id="R25f1a2fd13a44bf5" /><Relationship Type="http://schemas.openxmlformats.org/officeDocument/2006/relationships/slide" Target="/ppt/slides/slide9.xml" Id="R018908b9686148ff" /><Relationship Type="http://schemas.openxmlformats.org/officeDocument/2006/relationships/slide" Target="/ppt/slides/slide10.xml" Id="Rdc963dd7a36c4a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b89bc8315544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6dbcd3bf3245f5" /><Relationship Type="http://schemas.openxmlformats.org/officeDocument/2006/relationships/notesMaster" Target="/ppt/notesMasters/notesMaster1.xml" Id="R2d11931c43d14c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5baa53e1dd4ab0" /><Relationship Type="http://schemas.openxmlformats.org/officeDocument/2006/relationships/notesMaster" Target="/ppt/notesMasters/notesMaster1.xml" Id="Rbada66404bc04a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1528e8b6454682" /><Relationship Type="http://schemas.openxmlformats.org/officeDocument/2006/relationships/notesMaster" Target="/ppt/notesMasters/notesMaster1.xml" Id="R0dfd1fab5de943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10f0b77b5543d2" /><Relationship Type="http://schemas.openxmlformats.org/officeDocument/2006/relationships/notesMaster" Target="/ppt/notesMasters/notesMaster1.xml" Id="R7841af4332674d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c8ac962ec746b9" /><Relationship Type="http://schemas.openxmlformats.org/officeDocument/2006/relationships/notesMaster" Target="/ppt/notesMasters/notesMaster1.xml" Id="Rc9e6a5f4797749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e6b0001645449c" /><Relationship Type="http://schemas.openxmlformats.org/officeDocument/2006/relationships/notesMaster" Target="/ppt/notesMasters/notesMaster1.xml" Id="R02da7d499bf64c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b32eb2a104431f" /><Relationship Type="http://schemas.openxmlformats.org/officeDocument/2006/relationships/notesMaster" Target="/ppt/notesMasters/notesMaster1.xml" Id="Reb2ac04d7f6745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8104a273c6424e" /><Relationship Type="http://schemas.openxmlformats.org/officeDocument/2006/relationships/notesMaster" Target="/ppt/notesMasters/notesMaster1.xml" Id="R5b60874fc62e48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d1fc7c750b4e4f" /><Relationship Type="http://schemas.openxmlformats.org/officeDocument/2006/relationships/notesMaster" Target="/ppt/notesMasters/notesMaster1.xml" Id="Rd754f3beb6af44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62c29c6a324fac" /><Relationship Type="http://schemas.openxmlformats.org/officeDocument/2006/relationships/notesMaster" Target="/ppt/notesMasters/notesMaster1.xml" Id="R0d4c121a3f1743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KhetSathi as a proposal, not a validated field product. The project scope and outcome claims depend on partner access and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project problem hypothesis. Validate it with growers and extension workers before treating it as established for a specific location.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geography, supported language, disease classes and partner are assumptions to confirm.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agent is bounded: it can collect data, invoke approved tools and prepare recommendations, but the user retains decision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model or dataset performance is claimed. Model choice, input variables and labels must be agreed with an agricultural partner.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compact summary of the Lean Canvas. The full canvas is provided separately. All market and adoption assumptions require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comparison or baseline for water and practice outcomes if feasible. Do not infer causal impact from prompt acceptance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must be reviewed by agricultural experts and intended users before any field use. No autonomous treatment decision is proposed.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SDG targets: https://sdgs.un.org/goals/goal2 (target 2.4); https://sdgs.un.org/goals/goal6 (target 6.4); https://sdgs.un.org/goals/goal13 (target 13.1). KhetSathi is a proposed project and makes no impact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is indicative and should be adjusted to the actual internship duration. Project outputs depend on partner and data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50261d1b645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d385e351a47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d8ff94cdf4e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1dca93db740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837b98980b41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be0a381914d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42FACD-FDE7-4309-87CD-C2C5EEA30C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A4514D-1993-489F-875A-2140BAEE7B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0FC0F70-228A-4F77-AFE5-E2AA6FC372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A9FDBD-CDE5-4076-8772-E6F8522307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DC70A9-0029-4E2C-860D-D7630BC50E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6C2482-E8CB-4FDC-BF93-757B3505C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A32B4E-6027-408F-B253-24ADF00F5F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87B71E-C02F-47F4-AB4F-73F02B2EC2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2280DA-4FB5-49EB-8C41-8CAC82A27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E6D939-822E-461A-BCBA-82C20FD10C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11203b500b4129" /><Relationship Type="http://schemas.openxmlformats.org/officeDocument/2006/relationships/slideLayout" Target="/ppt/slideLayouts/slideLayout1.xml" Id="R0a6e526658e748d3" /><Relationship Type="http://schemas.openxmlformats.org/officeDocument/2006/relationships/slideLayout" Target="/ppt/slideLayouts/slideLayout2.xml" Id="Ra0c7e5c62189493a" /><Relationship Type="http://schemas.openxmlformats.org/officeDocument/2006/relationships/slideLayout" Target="/ppt/slideLayouts/slideLayout3.xml" Id="R32fb2de3359f4b82" /><Relationship Type="http://schemas.openxmlformats.org/officeDocument/2006/relationships/slideLayout" Target="/ppt/slideLayouts/slideLayout4.xml" Id="R6da8a7109a0f4144" /><Relationship Type="http://schemas.openxmlformats.org/officeDocument/2006/relationships/slideLayout" Target="/ppt/slideLayouts/slideLayout5.xml" Id="R6b46941c0c2a4190" /><Relationship Type="http://schemas.openxmlformats.org/officeDocument/2006/relationships/slideLayout" Target="/ppt/slideLayouts/slideLayout6.xml" Id="R463da534ed2945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6e526658e748d3"/>
    <p:sldLayoutId xmlns:r="http://schemas.openxmlformats.org/officeDocument/2006/relationships" id="2147483650" r:id="Ra0c7e5c62189493a"/>
    <p:sldLayoutId xmlns:r="http://schemas.openxmlformats.org/officeDocument/2006/relationships" id="2147483651" r:id="R32fb2de3359f4b82"/>
    <p:sldLayoutId xmlns:r="http://schemas.openxmlformats.org/officeDocument/2006/relationships" id="2147483652" r:id="R6da8a7109a0f4144"/>
    <p:sldLayoutId xmlns:r="http://schemas.openxmlformats.org/officeDocument/2006/relationships" id="2147483653" r:id="R6b46941c0c2a4190"/>
    <p:sldLayoutId xmlns:r="http://schemas.openxmlformats.org/officeDocument/2006/relationships" id="2147483654" r:id="R463da534ed2945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a17e273d04530" /><Relationship Type="http://schemas.openxmlformats.org/officeDocument/2006/relationships/notesSlide" Target="/ppt/notesSlides/notesSlide1.xml" Id="Rbb4ccab5c95442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70136ab5314388" /><Relationship Type="http://schemas.openxmlformats.org/officeDocument/2006/relationships/notesSlide" Target="/ppt/notesSlides/notesSlide2.xml" Id="Rbd485906d2c9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abcf2990884767" /><Relationship Type="http://schemas.openxmlformats.org/officeDocument/2006/relationships/notesSlide" Target="/ppt/notesSlides/notesSlide3.xml" Id="R9a057d40afbb49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3d923f61d74fa6" /><Relationship Type="http://schemas.openxmlformats.org/officeDocument/2006/relationships/notesSlide" Target="/ppt/notesSlides/notesSlide4.xml" Id="R71d402907b2041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c3a9e9b4694223" /><Relationship Type="http://schemas.openxmlformats.org/officeDocument/2006/relationships/notesSlide" Target="/ppt/notesSlides/notesSlide5.xml" Id="R18a13f4481bd4a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778db155b43dd" /><Relationship Type="http://schemas.openxmlformats.org/officeDocument/2006/relationships/notesSlide" Target="/ppt/notesSlides/notesSlide6.xml" Id="Rf8d19e9726a948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2aecfcbf54414f" /><Relationship Type="http://schemas.openxmlformats.org/officeDocument/2006/relationships/notesSlide" Target="/ppt/notesSlides/notesSlide7.xml" Id="R57504a92555848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af43e00f5742db" /><Relationship Type="http://schemas.openxmlformats.org/officeDocument/2006/relationships/notesSlide" Target="/ppt/notesSlides/notesSlide8.xml" Id="Ra027c9c26d3442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e83f05b4bd4953" /><Relationship Type="http://schemas.openxmlformats.org/officeDocument/2006/relationships/notesSlide" Target="/ppt/notesSlides/notesSlide9.xml" Id="R27a7ba12055e4b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90f796b3394332" /><Relationship Type="http://schemas.openxmlformats.org/officeDocument/2006/relationships/notesSlide" Target="/ppt/notesSlides/notesSlide10.xml" Id="R43c6240fdd284d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7C881-1299-4A03-A0E2-44C552B1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B687F-C792-4E41-84CF-B4014721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FD4C6"/>
                </a:solidFill>
                <a:latin typeface="Arial"/>
                <a:ea typeface="Arial"/>
                <a:cs typeface="Arial"/>
              </a:rPr>
              <a:t>INTERNSHIP 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41F52-E3AF-4143-A891-5276F386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990"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KhetSathi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1E52C-6DCF-4848-86C2-008844F8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800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AI-assisted crop risk and irrigation guidance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83615-D2CA-4ACC-A61E-F15F45C0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708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C33A5-C934-45DD-B9FE-3FE37D0C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D5E3E9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5E3E9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5E3E9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5E3E9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5E3E9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5E3E9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5E3E9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5E3E9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5E3E9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5E3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5E3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E3E9"/>
                </a:solidFill>
                <a:latin typeface="Arial"/>
                <a:ea typeface="Arial"/>
                <a:cs typeface="Arial"/>
              </a:rPr>
              <a:t>A human-supervised decision-support concept for smallholder tomato growers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F1471-FCEA-4826-BF31-1FD4FDC0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9FD4C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FD4C6"/>
                </a:solidFill>
                <a:latin typeface="Arial"/>
                <a:ea typeface="Arial"/>
                <a:cs typeface="Arial"/>
              </a:rPr>
              <a:t>ML  •  AI  •  Agentic AI  •  SDGs 2, 6 and 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9C360-57E5-4C4A-B82C-A7320720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AFC2C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AFC2C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AFC2C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AFC2C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AFC2C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AFC2C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AFC2C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AFC2C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AFC2C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AFC2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FC2C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2CC"/>
                </a:solidFill>
                <a:latin typeface="Arial"/>
                <a:ea typeface="Arial"/>
                <a:cs typeface="Arial"/>
              </a:rPr>
              <a:t>Working proposal; pilot partner and location to be selected</a:t>
            </a:r>
          </a:p>
        </p:txBody>
      </p:sp>
    </p:spTree>
    <p:extLst>
      <p:ext uri="{BB962C8B-B14F-4D97-AF65-F5344CB8AC3E}">
        <p14:creationId xmlns:p14="http://schemas.microsoft.com/office/powerpoint/2010/main" val="928677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38A628-CFF6-4076-BC47-148CC9B7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D4F61-C02A-4783-8522-B71FDCD9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PROJECT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A96C9-FD5F-4346-922A-361EBDC8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The field decision is fragmented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B8298-7BDC-4221-91E7-91591BAB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EE826-4632-47AD-B9A6-9F0F9BA7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KHETSAATHI  •  INTERNSHIP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590F8-3912-4D53-9130-C3B1A785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8CFD5-2826-43A2-96D1-CAACEB69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grower may need to combine several signals before deciding what to do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5BD1D-F75E-4643-A5E7-80A29943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EBC73-6FF3-4334-A8D7-96EC8C8E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A85E7-6B0C-4186-A989-D08B08D6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Crop symptoms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5E03F-BD37-485A-AE78-9EC69534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171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What is visible on the plant?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C7AA6-C8FC-4A69-B3C3-A6E48AD1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9087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B7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B29CF-0697-4876-A2AE-21C26301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81325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>
            <a:def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5FCCF-8959-4888-A0BB-CFF75939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60A04-81B8-4C22-B1A4-0380C9FA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6E84E-655D-4F3E-9AE8-0B962D04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14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Recent weather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0F659-EF8C-4B92-ADAA-892C5DC6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76550"/>
            <a:ext cx="171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Rain, humidity and forecast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C8318-2046-49D4-B287-5A3ED9B2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9087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B7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8D88E-658E-4C6D-BFB8-20E76BD4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81325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>
            <a:def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20F5F-BACC-4462-B376-8EE627D1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5A91F-2A13-49AB-B6E1-A4F4433B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BD3DD-1D8B-440A-9596-A526559D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14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Field conditions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A9D877-A3EB-472D-A338-D21474DF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171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Crop stage, soil and irrigation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E845FF-7E7A-49D0-95E5-41923F2D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9087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B7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E202A1-EF52-4E6E-AA5E-0C8E46BB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81325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>
            <a:def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EAA752-144C-45F9-AF8D-E5B4BBA5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4609D-FE8D-460F-B011-FB72847A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EF4AFB-C8B3-4DD2-86FE-D6D0011C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14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Local guidance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AED3C4-5DBA-480F-B07A-1F13ECD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76550"/>
            <a:ext cx="171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What is safe and relevant here?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75FAAD-B798-4CE8-B8A5-D9B3B097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Today these inputs can be scattered across memory, apps and conversations.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80E492-E0A9-4360-AEEC-811A98E2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Project question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D48C2E-24C5-4F4D-9952-DCE2F624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054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304"/>
          </a:bodyPr>
          <a:lstStyle xmlns:a="http://schemas.openxmlformats.org/drawingml/2006/main">
            <a:def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Can a simple, explainable assistant help users organize the evidence and reach a timely human review?</a:t>
            </a:r>
          </a:p>
        </p:txBody>
      </p:sp>
    </p:spTree>
    <p:extLst>
      <p:ext uri="{BB962C8B-B14F-4D97-AF65-F5344CB8AC3E}">
        <p14:creationId xmlns:p14="http://schemas.microsoft.com/office/powerpoint/2010/main" val="1749534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0551B-7CD7-4E06-957E-DC8E0807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FDCB3-BAB1-4298-86A4-CEA0C571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PROJECT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9C12C-5D01-420A-9A9A-ABE6A542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A focused pilot makes the problem testable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BAFD9-18BF-48F9-84B6-42ECCBC5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2B1CB-E21F-4942-AF99-945DB0F4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KHETSAATHI  •  INTERNSHIP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62EC1-273A-4659-A483-79A2D389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5DAC5-DFEF-455C-81DD-7A804D23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4857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00542-CED0-441A-A0FB-42C80BBB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E4E7E-077B-4AD3-BC49-ADEE3755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Primary 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C7004-5E20-4E81-B07F-9A383447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28850"/>
            <a:ext cx="447675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Smallholder tomato grower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Needs: understand risk, get a clear next step, and know when to ask an advisor.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A4200-03C5-409D-A68C-9C683D42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5143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7C345-C02C-43AD-84FA-48F8C32D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7D51F-FCBC-462E-B292-0883C569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6690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Pilot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AF78C-67AA-46D0-A6BF-A7E6B3D4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288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One partner-selected area; tomato crop; selected disease-risk labels and weather-aware irrigation prompts.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825A7-78DC-4864-B928-0ACA1FBB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5143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09F16-96C7-4648-ADD2-363265FD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47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93A65-100A-4DBD-81DD-D0FE8E50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Out of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27B2D-D6A9-4F3A-A511-F1FB9B82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Universal diagnosis, autonomous pesticide advice, automated purchases, and claims of yield or water savings.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B5328E-B3DE-4B88-8EBA-E578855D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75"/>
                </a:solidFill>
                <a:latin typeface="Arial"/>
                <a:ea typeface="Arial"/>
                <a:cs typeface="Arial"/>
              </a:rPr>
              <a:t>Advisor and farmer feedback shape the local data fields, language and guidance.</a:t>
            </a:r>
          </a:p>
        </p:txBody>
      </p:sp>
    </p:spTree>
    <p:extLst>
      <p:ext uri="{BB962C8B-B14F-4D97-AF65-F5344CB8AC3E}">
        <p14:creationId xmlns:p14="http://schemas.microsoft.com/office/powerpoint/2010/main" val="1305355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06774D-E278-4311-B87D-059FA068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39877-7E2A-449D-AAE8-E6AD6A4F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PROJECT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82BD1-1C59-4AC9-BAC8-A675EFC2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How the assistant would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CA01D-0284-4BCC-83CA-2A121F2D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4C4E2-A147-42B8-9B7F-5EF52F9B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KHETSAATHI  •  INTERNSHIP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099F8-AA33-49B3-9AD7-234903F5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5B4F7-72C9-4620-A6FD-6F0B4597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80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EA1F3-D388-4975-90BE-274B48C5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2DA37-53FA-432D-A176-E6A7D08F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1  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C34B3-A356-410E-A656-9C9D2006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428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Symptoms, crop stage, recent rain and optional soil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DDE2D-5213-4976-A261-ACD52B10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385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B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9AA39-D2D0-4A15-BCD8-9C9578C6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2895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902"/>
          </a:bodyPr>
          <a:lstStyle xmlns:a="http://schemas.openxmlformats.org/drawingml/2006/main">
            <a:def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9322C-C30B-4DA5-8BCE-CC9A299E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90750"/>
            <a:ext cx="180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74D5E-AE70-4BEC-9A61-A7CF7977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907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F6B09-2E0C-4C9E-AC3D-95B86816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241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2  Estimate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DDE35-34E3-497B-89F9-8F4840C0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86050"/>
            <a:ext cx="1428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ML risk score plus transparent irrigation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D4AD9-080B-4126-B750-CB1E7BCC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B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5425D-0D13-4FC3-BFFC-BFCBE032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902"/>
          </a:bodyPr>
          <a:lstStyle xmlns:a="http://schemas.openxmlformats.org/drawingml/2006/main">
            <a:def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DB1CC-DB1A-4E3C-BC1A-FA437735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180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8200F-DACD-4775-A6FC-E153EC96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4D2E4-5A05-4169-A8C3-28CDF0B0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241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3  Explain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6C278-1CBE-43AA-95E3-32139A95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1428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Plain-language response grounded in reviewed guidance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133A91-FDB0-42D0-90CC-FCB8C3C8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385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B7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D0E2A3-3842-4508-97DE-A729C563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902"/>
          </a:bodyPr>
          <a:lstStyle xmlns:a="http://schemas.openxmlformats.org/drawingml/2006/main">
            <a:def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41E4D2-B7E2-4BEE-BEA3-FCFEE858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180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7548B7-1BB8-4FD2-82C8-AE2E0438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AB6595-D720-4BED-A0A2-CFEBDC9E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241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4  Plan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195C2A-053A-4E57-A6A2-5D2D9B02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1428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Agent checks gaps, calls tools, drafts a follow-up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CCEAEC-EA60-4C07-9C2C-42DA8FFD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385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B7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E0F167-B775-4A38-9DFE-BA53DB71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902"/>
          </a:bodyPr>
          <a:lstStyle xmlns:a="http://schemas.openxmlformats.org/drawingml/2006/main">
            <a:def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4304F8-0583-4CB3-ADEA-A8A7B03A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90750"/>
            <a:ext cx="180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A99A09-A24A-407A-81E0-8EC256C9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907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E9199-B72A-4A07-AFD0-99AD4585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241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5  Confirm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5C4975-73BD-4637-AB23-5DEDA355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86050"/>
            <a:ext cx="1428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Farmer or advisor approves, edits or declines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BD5D53-B2A7-4002-BE2A-33985710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064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B5A932-443E-403C-870B-94FE3402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Safety boundary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0708A4-5268-4BE2-983B-9558D6A6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2442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No external message, order, or high-impact treatment action without explicit human confirmation.</a:t>
            </a:r>
          </a:p>
        </p:txBody>
      </p:sp>
    </p:spTree>
    <p:extLst>
      <p:ext uri="{BB962C8B-B14F-4D97-AF65-F5344CB8AC3E}">
        <p14:creationId xmlns:p14="http://schemas.microsoft.com/office/powerpoint/2010/main" val="218813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C10BA-387E-4000-810D-603A3771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2CE10-109E-4EAE-947B-0F8A5E0C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PROJECT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E2949-264F-4385-B8C9-17C28322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Three AI components, three distinct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30411-ED91-4076-A1DC-197BE9A4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889BD-0C95-4344-8287-A3C8E740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KHETSAATHI  •  INTERNSHIP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A8E5F-2FE4-4FE1-984E-7121759F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25C62-DED6-43DB-BA9D-F1230315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1047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E90EB-324E-4490-AF05-1296E8CF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12304-58E7-4310-9FC6-D73D7F4F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011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DF4AD-FAE2-4CB8-A42F-FDF119D0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Estimate a narrow disease-risk label from reviewed observations and permitted weather/field variables. Compare with a simple rules 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D3E5C-5117-479A-B8FB-84CD7CBE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47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3DE14-9BD7-4343-B8E4-FE25428E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0B046-73B7-4720-84A3-5FE5061B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011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Generative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734B4-A595-42D9-A551-C7D10D2A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Explain the result in plain language using a curated, versioned set of local guidance. Show uncertainty and source snippets.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C44C6-366A-459F-8381-51EE2EF1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047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26865-5C5C-4FC5-AA1F-D2E442C4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DC417-790D-4561-ADF4-5E2713B9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011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Agentic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19C3A-156C-4D94-91AC-D8DDAA8E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Check missing inputs, call weather/model/knowledge tools, prepare a follow-up, and ask the user to confirm before acting.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AE6EC-40F3-4ED4-AA7B-E97BD21C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>
              <a:defRPr sz="1350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The language model does not replace the risk model or agricultural expertise.</a:t>
            </a:r>
          </a:p>
        </p:txBody>
      </p:sp>
    </p:spTree>
    <p:extLst>
      <p:ext uri="{BB962C8B-B14F-4D97-AF65-F5344CB8AC3E}">
        <p14:creationId xmlns:p14="http://schemas.microsoft.com/office/powerpoint/2010/main" val="7497138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F4634D-9522-4D19-9568-E9C0460C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E4C4D-F448-4CAF-9920-2159A955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PROJECT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5A769-DC3F-42F9-A70F-CB88AF0F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Lean Canvas: the project in one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D0CF3-21D6-4355-AE7A-E878AA3F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D8920-49E6-499C-87AE-11B8B078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KHETSAATHI  •  INTERNSHIP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30AEE-7BCC-45F8-B36C-B631E54D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DD4AC-91B7-486B-AE6E-1448C7A9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1445E-8C46-45F0-A2B6-E3CD28EC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95276-CA35-48C1-8658-D5888E0C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Late or uncertain symptom interpretation; irrigation decisions miss local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22F81-C14B-495A-8F4A-50426DC5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0AF24-3952-43C2-BADB-107AFC90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1BD0E-1D7C-4CB3-95C1-E40BB135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Smallholder tomato growers; extension workers and agronomists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221FD-B015-44D7-AA1E-D51C4042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65BF3-A993-4787-A279-0AD79058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9570F-99B4-4B43-BBB6-1EDAE139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Risk score, grounded explanation, and confirmed follow-up workflow.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CDE78-9C1A-4824-A15F-4691F608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E89CD-4DAF-4106-8E8C-AE032793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BE609-52E0-4B7D-B406-24354CD6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669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Local, explainable next steps with a clear path to human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B94F9-22E6-4554-9CA0-49719913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CHANNELS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B7706-C692-41BC-A4EB-7E1FC78A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4A099-B539-4095-930F-6B27C66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Farmer groups, extension partners, demonstrations, mobile-first flow.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2BE4A-DB7D-4434-8AAE-C0A008EC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1047B-AA7A-4160-BC50-52031F91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782BA-4AD7-4CED-8C1D-2B1D5B76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481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Model quality, comprehension, follow-up, escalation, water-use proxy.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A16385-492E-4672-A505-1F881C9B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COSTS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0D9D16-42FB-41E6-963B-6A8AA9A9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09504A-62EE-47F4-A4D5-3E05885A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Data/labeling, agronomist review, hosting, localization, field evaluation.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4AE720-D4CC-45A3-BE3A-8EF51525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90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SUSTAINABILITY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5BE564-A6EF-4710-AB15-E2201BB5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53D217-795F-4BDD-968B-F45E4C70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Pilot grant or partner support; payer and pricing need validation.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D32A0C-8176-4306-A8D0-90C2B74E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Unfair advantage is not assumed: it must be earned through trusted local partnerships and validated, consent-based data.</a:t>
            </a:r>
          </a:p>
        </p:txBody>
      </p:sp>
    </p:spTree>
    <p:extLst>
      <p:ext uri="{BB962C8B-B14F-4D97-AF65-F5344CB8AC3E}">
        <p14:creationId xmlns:p14="http://schemas.microsoft.com/office/powerpoint/2010/main" val="11369893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80A85-72FA-4986-964D-B76A55B0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E516D-7236-43CD-86BB-BF3E3D57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PROJECT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6FE07-1FBE-4C79-A01F-3624A02C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Evaluation starts with evidence, not claims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57B24-88DE-4D32-AFD7-C44D6102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41AAF-237C-49D5-81AD-472F4D5D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KHETSAATHI  •  INTERNSHIP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3D89E-B406-430D-8D14-47BE68C9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3AA31-BD4E-48B7-B4ED-44BAB82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MODEL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C496E-5ED8-4E67-9CFF-047D3F3D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D7531-8CFA-4EA1-AE8F-4FF790B8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81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Class-wise precision, recall and F1</a:t>
            </a:r>
          </a:p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Calibration and false-negative review</a:t>
            </a:r>
          </a:p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Farm/time-separated holdout where feasible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1E3AF-C7B1-4030-AC01-8A677DA5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AGENT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5311C-F234-4D59-B645-5BAEEB10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5265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85135-911F-4530-BE98-55EAE41D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381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Correct tool calls</a:t>
            </a:r>
          </a:p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Grounded answer review</a:t>
            </a:r>
          </a:p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Escalation and unauthorized-action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116BE-4182-47F5-B5AB-8A76CBD8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USER 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7D1BD-4E48-4834-94D5-DC22A717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96637-95A4-4CA5-9733-2A1651AB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381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Task completion and comprehension</a:t>
            </a:r>
          </a:p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Advisor workload</a:t>
            </a:r>
          </a:p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Feedback across language and access needs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AF7AF-CA95-44FA-98B1-EA20AD0F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097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SDG-RELATED SIGNALS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1A7E4-8C6F-4E5E-8775-1D432A64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5265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5D504-570A-46F1-95C1-C6B78CB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81250"/>
            <a:ext cx="2381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Irrigation prompts accepted</a:t>
            </a:r>
          </a:p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Water-use proxy if measurable</a:t>
            </a:r>
          </a:p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Timely referral and practice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50D3E-F598-4069-968D-1BD066E4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9ADD2-28CE-4EFC-A447-76EB8D0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performance target is set until labels, baseline and pilot data are known.</a:t>
            </a:r>
          </a:p>
        </p:txBody>
      </p:sp>
    </p:spTree>
    <p:extLst>
      <p:ext uri="{BB962C8B-B14F-4D97-AF65-F5344CB8AC3E}">
        <p14:creationId xmlns:p14="http://schemas.microsoft.com/office/powerpoint/2010/main" val="17173440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CE5FEF-7E0D-4CA4-A09A-9C09D77C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7B409-787A-4D2B-B9CC-69FD59FB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PROJECT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3B6E5-59C1-492F-9658-ED218449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Human oversight and privacy are built 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65FA7-2FE0-4E72-9E83-D3391398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F1BFA-427D-412D-8BA9-4AB790DC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KHETSAATHI  •  INTERNSHIP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8B1CF-3624-4F79-ADDC-EC76E136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9CC97-8B74-4BB0-9D5E-3CA24DCB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6AEA0-A06E-4113-8D8B-76D89A99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657350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Uncertain prediction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40F86-8243-4797-8C06-570670B7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573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Show confidence and limits; route uncertain cases to an advisor.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6641D-7DE1-486F-8C7A-B09D4785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352675"/>
            <a:ext cx="1002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FC9DC-1580-4CE1-9AD8-2FCA507D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E1586-82E6-44A3-99FA-2DE36AA2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524125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Unsafe generation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1277F-2377-4922-A961-77030B38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24125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Ground answers in approved guidance; block unsupported diagnosis and pesticide advice.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7E057-E0E6-4693-BAA4-935B5C94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219450"/>
            <a:ext cx="1002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84984-A6F3-47D6-81D9-12E56D3E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39CA4-8296-45AB-935E-0599FEB4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90900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Agent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9D71A-23B4-4A19-A88D-EDD887F2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9090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Narrow tool permissions; log actions; require explicit confirmation for external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EA0E5-1269-4ACF-8C1A-876FB271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86225"/>
            <a:ext cx="1002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B6149-ED9F-48AB-B00A-C30A9A50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77D15-5B22-4265-B859-BC5DCE54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57675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Sensitive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B991A-979A-41D3-9E0E-0ED4EED2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57675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Consent, data minimization, coded identifiers, access limits and retention rules.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24248-EC0E-4320-8F28-465CB420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953000"/>
            <a:ext cx="1002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3416B-5B0A-41AB-BD05-C804E376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720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E87FB2-0F98-44BE-8510-0F2EBDAB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24450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>
            <a:def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Unequal access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38B080-BA0C-4B54-AC9B-9C80D73F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244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Test language and low-bandwidth use; preserve assisted and non-digital routes.</a:t>
            </a:r>
          </a:p>
        </p:txBody>
      </p:sp>
    </p:spTree>
    <p:extLst>
      <p:ext uri="{BB962C8B-B14F-4D97-AF65-F5344CB8AC3E}">
        <p14:creationId xmlns:p14="http://schemas.microsoft.com/office/powerpoint/2010/main" val="8815168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C04BE-D055-4D15-9356-E2E4337B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BC084-22AA-4418-A348-069FA545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PROJECT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0684E-E750-4D4C-A9BC-DCEFC649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SDG alignment is a testable pathway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F227B-B398-464C-8B2E-3F5A75EB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E547D-3E2C-4819-A69E-E82DE109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KHETSAATHI  •  INTERNSHIP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28C4C-6E8E-49D3-8FE6-C8C38700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53ADF-1AC3-45B8-90AB-49E51AFC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4307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7014C-34F8-4D8E-9196-BF7889BD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ZERO HUNGER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2821C-8B81-4AE0-87B7-C192478F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C1CEE-76F6-4FDB-B01C-8E879B16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3746"/>
                </a:solidFill>
                <a:latin typeface="Arial"/>
                <a:ea typeface="Arial"/>
                <a:cs typeface="Arial"/>
              </a:rPr>
              <a:t>Target 2.4: resilient and sustainable agricultural practices.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61EE7-AC69-4659-AE59-E1937E99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5"/>
                </a:solidFill>
                <a:latin typeface="Arial"/>
                <a:ea typeface="Arial"/>
                <a:cs typeface="Arial"/>
              </a:rPr>
              <a:t>Test whether timely risk awareness supports better-informed farm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76D3E-2484-42B4-A8A4-6EDC7EAE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4307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C4EDA-5E9F-4D89-AE06-61C05753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CLEAN WATER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F9F1B-3398-474A-86FC-A041BBEA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3E938-CACD-4F50-BC00-F3F036D2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146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3746"/>
                </a:solidFill>
                <a:latin typeface="Arial"/>
                <a:ea typeface="Arial"/>
                <a:cs typeface="Arial"/>
              </a:rPr>
              <a:t>Target 6.4: improve water-use efficiency.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17474-A712-41C6-A0C7-F9AB9CC5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5"/>
                </a:solidFill>
                <a:latin typeface="Arial"/>
                <a:ea typeface="Arial"/>
                <a:cs typeface="Arial"/>
              </a:rPr>
              <a:t>Evaluate irrigation prompts and a water-use proxy where measurement is feasible.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C54D8-823B-48B9-A320-224CB00A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4307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025A9-1178-4449-B52E-DC09753D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9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CLIMATE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B9BC2-9D3A-4359-A692-1AB22032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97963-EBE0-4B13-8CBE-10F4DF82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146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3746"/>
                </a:solidFill>
                <a:latin typeface="Arial"/>
                <a:ea typeface="Arial"/>
                <a:cs typeface="Arial"/>
              </a:rPr>
              <a:t>Target 13.1: strengthen resilience to climate-related hazards.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55A5D-83DC-4A7F-9C20-517FCAF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814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5"/>
                </a:solidFill>
                <a:latin typeface="Arial"/>
                <a:ea typeface="Arial"/>
                <a:cs typeface="Arial"/>
              </a:rPr>
              <a:t>Use weather context and clear escalation to support climate-aware decisions.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BDFD5-E28C-4B0E-A3F8-92064C6A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These are intended contributions. Demonstrated impact requires field measurement.</a:t>
            </a:r>
          </a:p>
        </p:txBody>
      </p:sp>
    </p:spTree>
    <p:extLst>
      <p:ext uri="{BB962C8B-B14F-4D97-AF65-F5344CB8AC3E}">
        <p14:creationId xmlns:p14="http://schemas.microsoft.com/office/powerpoint/2010/main" val="17135727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28707-CF78-45C5-BAD1-90D08766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6B702-0BA6-4694-A7C3-1B565127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PROJECT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62C0F-7992-4A24-9D49-D421418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Ten-week plan and submission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F8A37-74E6-45EA-847C-6E52D411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ADEC6-E245-4560-8BCD-87019F02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KHETSAATHI  •  INTERNSHIP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E272E-FFA2-4469-855C-EBBD734D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B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49DF4-A53D-476A-ACB6-E5F166A9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1–2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61B05-DADB-4491-9438-83779497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752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9A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5FAEA-1DC7-48A0-948C-82A6949D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573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Problem interviews, partner, scope and consent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E2443-3502-43A2-A111-6F3881EB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3–4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2F8B7-2006-45DF-8D39-2A557509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4765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9A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D8DF9-8BF5-417F-A47C-D2BC5100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812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Data schema, approved guidance and baseline 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3C18D-7345-4E8F-AF87-985DC6BE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5–7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8451C-0EA6-4460-8A69-92C66307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2004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9A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9963F-C2DD-49EB-BD95-99BD426B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051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MVP: user flow, risk tool, grounded AI and bounded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6990F-87E9-4ADB-BC33-364EFD5D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8–9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6970C-F275-4329-857F-D2E5AA88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9243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9A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FB855-0567-4D43-95F3-F1AACB94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290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Advisor review, usability, evaluation and failure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1FA83-6D24-470A-B520-A57CB87F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7EB10-D587-4AA8-A6CD-84DEF296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482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9A3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0BA21-DE48-4B1E-9E17-76BAE0E1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529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Refine, document and present findings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D71F7-DBE9-4657-B14F-E08F288C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012031-FB15-4CAE-BD76-10B8CD44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7A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A67"/>
                </a:solidFill>
                <a:latin typeface="Arial"/>
                <a:ea typeface="Arial"/>
                <a:cs typeface="Arial"/>
              </a:rPr>
              <a:t>SUBMISSIONS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590534-6070-4DA1-9084-1179FD01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435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24B"/>
                </a:solidFill>
                <a:latin typeface="Arial"/>
                <a:ea typeface="Arial"/>
                <a:cs typeface="Arial"/>
              </a:rPr>
              <a:t>Lean Canvas PDF   •   Concept Note   •   PowerPoint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22928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2026-10-17T17:16:05.2310000Z</dcterms:created>
  <dcterms:modified xsi:type="dcterms:W3CDTF">2026-10-17T17:16:05.2310000Z</dcterms:modified>
</coreProperties>
</file>